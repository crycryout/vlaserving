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Microsoft YaHei"/>
              </a:defRPr>
            </a:pPr>
            <a:r>
              <a:t>VLA Workload 的 GPU 虚拟化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纯文本版：方法、实验、对照、结论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0972800" cy="914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8992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2200">
                <a:solidFill>
                  <a:srgbClr val="000000"/>
                </a:solidFill>
                <a:latin typeface="Microsoft YaHei"/>
              </a:defRPr>
            </a:pPr>
            <a:r>
              <a:t>目标：解释为什么已有 GPU 虚拟化 / 资源划分方案不足，</a:t>
            </a:r>
          </a:p>
          <a:p>
            <a:pPr algn="l">
              <a:spcAft>
                <a:spcPts val="800"/>
              </a:spcAft>
              <a:defRPr sz="2200">
                <a:solidFill>
                  <a:srgbClr val="000000"/>
                </a:solidFill>
                <a:latin typeface="Microsoft YaHei"/>
              </a:defRPr>
            </a:pPr>
            <a:r>
              <a:t>以及为什么我们的 VLA-workload-aware 方法对 Pi05 和 GR00T N1.6 都有效。</a:t>
            </a:r>
          </a:p>
          <a:p>
            <a:pPr algn="l">
              <a:spcAft>
                <a:spcPts val="800"/>
              </a:spcAft>
              <a:defRPr sz="2200">
                <a:solidFill>
                  <a:srgbClr val="000000"/>
                </a:solidFill>
                <a:latin typeface="Microsoft YaHei"/>
              </a:defRPr>
            </a:pPr>
          </a:p>
          <a:p>
            <a:pPr algn="l">
              <a:spcAft>
                <a:spcPts val="800"/>
              </a:spcAft>
              <a:defRPr sz="2200">
                <a:solidFill>
                  <a:srgbClr val="000000"/>
                </a:solidFill>
                <a:latin typeface="Microsoft YaHei"/>
              </a:defRPr>
            </a:pPr>
            <a:r>
              <a:t>内容来源：</a:t>
            </a:r>
          </a:p>
          <a:p>
            <a:pPr algn="l">
              <a:spcAft>
                <a:spcPts val="800"/>
              </a:spcAft>
              <a:defRPr sz="2200">
                <a:solidFill>
                  <a:srgbClr val="000000"/>
                </a:solidFill>
                <a:latin typeface="Microsoft YaHei"/>
              </a:defRPr>
            </a:pPr>
            <a:r>
              <a:t>- VLA_WORKLOAD_GPU_VGPU_ABSTRACTION.md</a:t>
            </a:r>
          </a:p>
          <a:p>
            <a:pPr algn="l">
              <a:spcAft>
                <a:spcPts val="800"/>
              </a:spcAft>
              <a:defRPr sz="2200">
                <a:solidFill>
                  <a:srgbClr val="000000"/>
                </a:solidFill>
                <a:latin typeface="Microsoft YaHei"/>
              </a:defRPr>
            </a:pPr>
            <a:r>
              <a:t>- VLA_GPU_VIRTUALIZATION_POLICY_20260412.md</a:t>
            </a:r>
          </a:p>
          <a:p>
            <a:pPr algn="l">
              <a:spcAft>
                <a:spcPts val="800"/>
              </a:spcAft>
              <a:defRPr sz="2200">
                <a:solidFill>
                  <a:srgbClr val="000000"/>
                </a:solidFill>
                <a:latin typeface="Microsoft YaHei"/>
              </a:defRPr>
            </a:pPr>
            <a:r>
              <a:t>- UNIFIED_CHUNKED_VLA_SERVING_SYSTEM.md</a:t>
            </a:r>
          </a:p>
          <a:p>
            <a:pPr algn="l">
              <a:spcAft>
                <a:spcPts val="800"/>
              </a:spcAft>
              <a:defRPr sz="2200">
                <a:solidFill>
                  <a:srgbClr val="000000"/>
                </a:solidFill>
                <a:latin typeface="Microsoft YaHei"/>
              </a:defRPr>
            </a:pPr>
            <a:r>
              <a:t>- VLA_METHOD_REPRO_20260411.md</a:t>
            </a:r>
          </a:p>
          <a:p>
            <a:pPr algn="l">
              <a:spcAft>
                <a:spcPts val="800"/>
              </a:spcAft>
              <a:defRPr sz="2200">
                <a:solidFill>
                  <a:srgbClr val="000000"/>
                </a:solidFill>
                <a:latin typeface="Microsoft YaHei"/>
              </a:defRPr>
            </a:pPr>
            <a:r>
              <a:t>- PUBLIC_ARTIFACT_REPRO_20260411.md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548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00">
                <a:solidFill>
                  <a:srgbClr val="000000"/>
                </a:solidFill>
                <a:latin typeface="Microsoft YaHei"/>
              </a:defRPr>
            </a:pPr>
            <a:r>
              <a:t>1/12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Microsoft YaHei"/>
              </a:defRPr>
            </a:pPr>
            <a:r>
              <a:t>VLA Workload 与传统 Serving 的差别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0972800" cy="914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1">
                <a:solidFill>
                  <a:srgbClr val="000000"/>
                </a:solidFill>
                <a:latin typeface="Microsoft YaHei"/>
              </a:defRPr>
            </a:pPr>
            <a:r>
              <a:t>VLA workload 的关键特征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09928"/>
            <a:ext cx="5394960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Microsoft YaHei"/>
              </a:defRPr>
            </a:pPr>
            <a:r>
              <a:t>- 下一次请求大体可预测，不是完全外生随机到达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Microsoft YaHei"/>
              </a:defRPr>
            </a:pPr>
            <a:r>
              <a:t>- 真正的 deadline 是旧 action chunk 耗尽前必须返回新 chunk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Microsoft YaHei"/>
              </a:defRPr>
            </a:pPr>
            <a:r>
              <a:t>- 模型状态本身就是调度对象，不只是算力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Microsoft YaHei"/>
              </a:defRPr>
            </a:pPr>
            <a:r>
              <a:t>- horizon 可以被控制语义约束，也可以被系统主动利用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Microsoft YaHei"/>
              </a:defRPr>
            </a:pPr>
            <a:r>
              <a:t>- Pi05 当前使用 {25, 50} 控制语义，legal replan window 为 [25, 50]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72200" y="132588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1">
                <a:solidFill>
                  <a:srgbClr val="000000"/>
                </a:solidFill>
                <a:latin typeface="Microsoft YaHei"/>
              </a:defRPr>
            </a:pPr>
            <a:r>
              <a:t>传统 serving / vGPU 默认假设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0" y="1709928"/>
            <a:ext cx="5303520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Microsoft YaHei"/>
              </a:defRPr>
            </a:pPr>
            <a:r>
              <a:t>- 请求到达后再排队，再调度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Microsoft YaHei"/>
              </a:defRPr>
            </a:pPr>
            <a:r>
              <a:t>- 主要资源是 compute time / compute space / memory size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Microsoft YaHei"/>
              </a:defRPr>
            </a:pPr>
            <a:r>
              <a:t>- 目标偏向吞吐、平均延迟、SLO miss rate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Microsoft YaHei"/>
              </a:defRPr>
            </a:pPr>
            <a:r>
              <a:t>- 很少把未来请求时间线、模型状态驻留、带宽、合法重规划窗口当成一等资源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548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00">
                <a:solidFill>
                  <a:srgbClr val="000000"/>
                </a:solidFill>
                <a:latin typeface="Microsoft YaHei"/>
              </a:defRPr>
            </a:pPr>
            <a:r>
              <a:t>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Microsoft YaHei"/>
              </a:defRPr>
            </a:pPr>
            <a:r>
              <a:t>我们的抽象：VLA-vGPU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0972800" cy="914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2600">
                <a:solidFill>
                  <a:srgbClr val="000000"/>
                </a:solidFill>
                <a:latin typeface="Microsoft YaHei"/>
              </a:defRPr>
            </a:pPr>
            <a:r>
              <a:t>VLA-vGPU = &lt;T, S, M, X, W, B, F&gt;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2024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1">
                <a:solidFill>
                  <a:srgbClr val="000000"/>
                </a:solidFill>
                <a:latin typeface="Microsoft YaHei"/>
              </a:defRPr>
            </a:pPr>
            <a:r>
              <a:t>7 个维度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04288"/>
            <a:ext cx="5303520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  <a:defRPr sz="1700">
                <a:solidFill>
                  <a:srgbClr val="000000"/>
                </a:solidFill>
                <a:latin typeface="Microsoft YaHei"/>
              </a:defRPr>
            </a:pPr>
            <a:r>
              <a:t>- T: future compute slots</a:t>
            </a:r>
          </a:p>
          <a:p>
            <a:pPr algn="l">
              <a:spcAft>
                <a:spcPts val="600"/>
              </a:spcAft>
              <a:defRPr sz="1700">
                <a:solidFill>
                  <a:srgbClr val="000000"/>
                </a:solidFill>
                <a:latin typeface="Microsoft YaHei"/>
              </a:defRPr>
            </a:pPr>
            <a:r>
              <a:t>- S: spatial compute share</a:t>
            </a:r>
          </a:p>
          <a:p>
            <a:pPr algn="l">
              <a:spcAft>
                <a:spcPts val="600"/>
              </a:spcAft>
              <a:defRPr sz="1700">
                <a:solidFill>
                  <a:srgbClr val="000000"/>
                </a:solidFill>
                <a:latin typeface="Microsoft YaHei"/>
              </a:defRPr>
            </a:pPr>
            <a:r>
              <a:t>- M: resident model state</a:t>
            </a:r>
          </a:p>
          <a:p>
            <a:pPr algn="l">
              <a:spcAft>
                <a:spcPts val="600"/>
              </a:spcAft>
              <a:defRPr sz="1700">
                <a:solidFill>
                  <a:srgbClr val="000000"/>
                </a:solidFill>
                <a:latin typeface="Microsoft YaHei"/>
              </a:defRPr>
            </a:pPr>
            <a:r>
              <a:t>- X: H2D / activation / apply bandwidth budget</a:t>
            </a:r>
          </a:p>
          <a:p>
            <a:pPr algn="l">
              <a:spcAft>
                <a:spcPts val="600"/>
              </a:spcAft>
              <a:defRPr sz="1700">
                <a:solidFill>
                  <a:srgbClr val="000000"/>
                </a:solidFill>
                <a:latin typeface="Microsoft YaHei"/>
              </a:defRPr>
            </a:pPr>
            <a:r>
              <a:t>- W: legal replan window</a:t>
            </a:r>
          </a:p>
          <a:p>
            <a:pPr algn="l">
              <a:spcAft>
                <a:spcPts val="600"/>
              </a:spcAft>
              <a:defRPr sz="1700">
                <a:solidFill>
                  <a:srgbClr val="000000"/>
                </a:solidFill>
                <a:latin typeface="Microsoft YaHei"/>
              </a:defRPr>
            </a:pPr>
            <a:r>
              <a:t>- B: batch affinity</a:t>
            </a:r>
          </a:p>
          <a:p>
            <a:pPr algn="l">
              <a:spcAft>
                <a:spcPts val="600"/>
              </a:spcAft>
              <a:defRPr sz="1700">
                <a:solidFill>
                  <a:srgbClr val="000000"/>
                </a:solidFill>
                <a:latin typeface="Microsoft YaHei"/>
              </a:defRPr>
            </a:pPr>
            <a:r>
              <a:t>- F: fairness / admission weight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920240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1">
                <a:solidFill>
                  <a:srgbClr val="000000"/>
                </a:solidFill>
                <a:latin typeface="Microsoft YaHei"/>
              </a:defRPr>
            </a:pPr>
            <a:r>
              <a:t>核心思想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304288"/>
            <a:ext cx="5212080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  <a:defRPr sz="1700">
                <a:solidFill>
                  <a:srgbClr val="000000"/>
                </a:solidFill>
                <a:latin typeface="Microsoft YaHei"/>
              </a:defRPr>
            </a:pPr>
            <a:r>
              <a:t>- 不是给每个机器人一块静态 GPU 分区</a:t>
            </a:r>
          </a:p>
          <a:p>
            <a:pPr algn="l">
              <a:spcAft>
                <a:spcPts val="600"/>
              </a:spcAft>
              <a:defRPr sz="1700">
                <a:solidFill>
                  <a:srgbClr val="000000"/>
                </a:solidFill>
                <a:latin typeface="Microsoft YaHei"/>
              </a:defRPr>
            </a:pPr>
            <a:r>
              <a:t>- 而是给每个机器人一个随时间续租的 Robot Lease</a:t>
            </a:r>
          </a:p>
          <a:p>
            <a:pPr algn="l">
              <a:spcAft>
                <a:spcPts val="600"/>
              </a:spcAft>
              <a:defRPr sz="1700">
                <a:solidFill>
                  <a:srgbClr val="000000"/>
                </a:solidFill>
                <a:latin typeface="Microsoft YaHei"/>
              </a:defRPr>
            </a:pPr>
            <a:r>
              <a:t>- 这个 lease 同时承诺 compute、model state、bandwidth 和 control window</a:t>
            </a:r>
          </a:p>
          <a:p>
            <a:pPr algn="l">
              <a:spcAft>
                <a:spcPts val="600"/>
              </a:spcAft>
              <a:defRPr sz="1700">
                <a:solidFill>
                  <a:srgbClr val="000000"/>
                </a:solidFill>
                <a:latin typeface="Microsoft YaHei"/>
              </a:defRPr>
            </a:pPr>
            <a:r>
              <a:t>- admission 的对象是 robot lease，不是一次 request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00800"/>
            <a:ext cx="548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00">
                <a:solidFill>
                  <a:srgbClr val="000000"/>
                </a:solidFill>
                <a:latin typeface="Microsoft YaHei"/>
              </a:defRPr>
            </a:pPr>
            <a:r>
              <a:t>3/12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Microsoft YaHei"/>
              </a:defRPr>
            </a:pPr>
            <a:r>
              <a:t>统一系统：一个控制面，两类后端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0972800" cy="914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1">
                <a:solidFill>
                  <a:srgbClr val="000000"/>
                </a:solidFill>
                <a:latin typeface="Microsoft YaHei"/>
              </a:defRPr>
            </a:pPr>
            <a:r>
              <a:t>共享控制面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09928"/>
            <a:ext cx="5303520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Microsoft YaHei"/>
              </a:defRPr>
            </a:pPr>
            <a:r>
              <a:t>- Timeline Predictor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Microsoft YaHei"/>
              </a:defRPr>
            </a:pPr>
            <a:r>
              <a:t>- Admission Controller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Microsoft YaHei"/>
              </a:defRPr>
            </a:pPr>
            <a:r>
              <a:t>- Memory State Manager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Microsoft YaHei"/>
              </a:defRPr>
            </a:pPr>
            <a:r>
              <a:t>- Compute Scheduler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Microsoft YaHei"/>
              </a:defRPr>
            </a:pPr>
            <a:r>
              <a:t>- Phase Controller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Microsoft YaHei"/>
              </a:defRPr>
            </a:pPr>
            <a:r>
              <a:t>- 数据面统一成 compute / prefetch / decode-apply 三条流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72200" y="132588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1">
                <a:solidFill>
                  <a:srgbClr val="000000"/>
                </a:solidFill>
                <a:latin typeface="Microsoft YaHei"/>
              </a:defRPr>
            </a:pPr>
            <a:r>
              <a:t>两类后端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0" y="1709928"/>
            <a:ext cx="5303520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Microsoft YaHei"/>
              </a:defRPr>
            </a:pPr>
            <a:r>
              <a:t>- Pi05: ResidentPrefetch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Microsoft YaHei"/>
              </a:defRPr>
            </a:pPr>
            <a:r>
              <a:t>  关键在 predictive residency / predictive prefetch / window-aware serving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Microsoft YaHei"/>
              </a:defRPr>
            </a:pPr>
            <a:r>
              <a:t>- GR00T N1.6: SharedPrefixPhaseBatch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Microsoft YaHei"/>
              </a:defRPr>
            </a:pPr>
            <a:r>
              <a:t>  关键在 shared-prefix residency / phase lock / same-model batching / fair admission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Microsoft YaHei"/>
              </a:defRPr>
            </a:pPr>
            <a:r>
              <a:t>- 两者共享同一个 VLA-vGPU 抽象，只是 T/M/X/W/B 的重心不同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548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00">
                <a:solidFill>
                  <a:srgbClr val="000000"/>
                </a:solidFill>
                <a:latin typeface="Microsoft YaHei"/>
              </a:defRPr>
            </a:pPr>
            <a:r>
              <a:t>4/12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Microsoft YaHei"/>
              </a:defRPr>
            </a:pPr>
            <a:r>
              <a:t>Pi05 如何套进这套方法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0972800" cy="914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1">
                <a:solidFill>
                  <a:srgbClr val="000000"/>
                </a:solidFill>
                <a:latin typeface="Microsoft YaHei"/>
              </a:defRPr>
            </a:pPr>
            <a:r>
              <a:t>Pi05 运行时设计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09928"/>
            <a:ext cx="5303520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Microsoft YaHei"/>
              </a:defRPr>
            </a:pPr>
            <a:r>
              <a:t>- three-shell：30Hz 常驻、20Hz 常驻、两个 10Hz 共享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Microsoft YaHei"/>
              </a:defRPr>
            </a:pPr>
            <a:r>
              <a:t>- 10Hz 模型按 next-use 做 predictive prefetch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Microsoft YaHei"/>
              </a:defRPr>
            </a:pPr>
            <a:r>
              <a:t>- 请求窗口使用 {25, 50} horizon 语义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Microsoft YaHei"/>
              </a:defRPr>
            </a:pPr>
            <a:r>
              <a:t>- legal replan window 是 [25, 50]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Microsoft YaHei"/>
              </a:defRPr>
            </a:pPr>
            <a:r>
              <a:t>- 在 Pi05 上，真正关键的是 M + X + W，而不是 batching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72200" y="132588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1">
                <a:solidFill>
                  <a:srgbClr val="000000"/>
                </a:solidFill>
                <a:latin typeface="Microsoft YaHei"/>
              </a:defRPr>
            </a:pPr>
            <a:r>
              <a:t>为什么有效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0" y="1709928"/>
            <a:ext cx="5303520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Microsoft YaHei"/>
              </a:defRPr>
            </a:pPr>
            <a:r>
              <a:t>- 窗口变宽后，reservation 和 prefetch 更容易安排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Microsoft YaHei"/>
              </a:defRPr>
            </a:pPr>
            <a:r>
              <a:t>- 不需要等请求到了再 reactively 切模型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Microsoft YaHei"/>
              </a:defRPr>
            </a:pPr>
            <a:r>
              <a:t>- request-to-result 延迟基本不变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Microsoft YaHei"/>
              </a:defRPr>
            </a:pPr>
            <a:r>
              <a:t>- admission 容量显著提升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548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00">
                <a:solidFill>
                  <a:srgbClr val="000000"/>
                </a:solidFill>
                <a:latin typeface="Microsoft YaHei"/>
              </a:defRPr>
            </a:pPr>
            <a:r>
              <a:t>5/12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Microsoft YaHei"/>
              </a:defRPr>
            </a:pPr>
            <a:r>
              <a:t>Pi05 实验结果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0972800" cy="914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1">
                <a:solidFill>
                  <a:srgbClr val="000000"/>
                </a:solidFill>
                <a:latin typeface="Microsoft YaHei"/>
              </a:defRPr>
            </a:pPr>
            <a:r>
              <a:t>固定 4 机器人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09928"/>
            <a:ext cx="5303520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Microsoft YaHei"/>
              </a:defRPr>
            </a:pPr>
            <a:r>
              <a:t>- request-to-result p95 = 43.21 ms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Microsoft YaHei"/>
              </a:defRPr>
            </a:pPr>
            <a:r>
              <a:t>- hard miss = 0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Microsoft YaHei"/>
              </a:defRPr>
            </a:pPr>
            <a:r>
              <a:t>- reply-over = 0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Microsoft YaHei"/>
              </a:defRPr>
            </a:pPr>
            <a:r>
              <a:t>- fleet score = 1.000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Microsoft YaHei"/>
              </a:defRPr>
            </a:pPr>
            <a:r>
              <a:t>- min robot score = 1.000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72200" y="132588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1">
                <a:solidFill>
                  <a:srgbClr val="000000"/>
                </a:solidFill>
                <a:latin typeface="Microsoft YaHei"/>
              </a:defRPr>
            </a:pPr>
            <a:r>
              <a:t>admission + 对照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0" y="1709928"/>
            <a:ext cx="5303520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Microsoft YaHei"/>
              </a:defRPr>
            </a:pPr>
            <a:r>
              <a:t>- 当前 25/50 设定：mean admitted = 32.67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Microsoft YaHei"/>
              </a:defRPr>
            </a:pPr>
            <a:r>
              <a:t>- 旧设定：mean admitted = 22.33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Microsoft YaHei"/>
              </a:defRPr>
            </a:pPr>
            <a:r>
              <a:t>- admission 提升：10.33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Microsoft YaHei"/>
              </a:defRPr>
            </a:pPr>
            <a:r>
              <a:t>- fleet score: 0.9862 -&gt; 0.9934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Microsoft YaHei"/>
              </a:defRPr>
            </a:pPr>
            <a:r>
              <a:t>- min robot score: 0.9483 -&gt; 0.9644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Microsoft YaHei"/>
              </a:defRPr>
            </a:pPr>
            <a:r>
              <a:t>- miss_autohorizon_ratio: 0.0947 -&gt; 0.0420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548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00">
                <a:solidFill>
                  <a:srgbClr val="000000"/>
                </a:solidFill>
                <a:latin typeface="Microsoft YaHei"/>
              </a:defRPr>
            </a:pPr>
            <a:r>
              <a:t>6/12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Microsoft YaHei"/>
              </a:defRPr>
            </a:pPr>
            <a:r>
              <a:t>GR00T N1.6 如何套进这套方法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0972800" cy="914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1">
                <a:solidFill>
                  <a:srgbClr val="000000"/>
                </a:solidFill>
                <a:latin typeface="Microsoft YaHei"/>
              </a:defRPr>
            </a:pPr>
            <a:r>
              <a:t>GR00T 运行时设计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09928"/>
            <a:ext cx="5303520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Microsoft YaHei"/>
              </a:defRPr>
            </a:pPr>
            <a:r>
              <a:t>- 保留 shared-prefix residency，这个方法已验证有效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Microsoft YaHei"/>
              </a:defRPr>
            </a:pPr>
            <a:r>
              <a:t>- 相同微调模型的请求做 phase lock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Microsoft YaHei"/>
              </a:defRPr>
            </a:pPr>
            <a:r>
              <a:t>- 相同模型请求优先组成 batch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Microsoft YaHei"/>
              </a:defRPr>
            </a:pPr>
            <a:r>
              <a:t>- admission 使用 quota-fair，抑制 batch bias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Microsoft YaHei"/>
              </a:defRPr>
            </a:pPr>
            <a:r>
              <a:t>- 在 GR00T 上，关键是 T + M(shared prefix) + B + 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72200" y="132588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1">
                <a:solidFill>
                  <a:srgbClr val="000000"/>
                </a:solidFill>
                <a:latin typeface="Microsoft YaHei"/>
              </a:defRPr>
            </a:pPr>
            <a:r>
              <a:t>为什么有效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0" y="1709928"/>
            <a:ext cx="5303520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Microsoft YaHei"/>
              </a:defRPr>
            </a:pPr>
            <a:r>
              <a:t>- GR00T 的 same-model batching 很强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Microsoft YaHei"/>
              </a:defRPr>
            </a:pPr>
            <a:r>
              <a:t>- strict horizon 下会出现 reply-over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Microsoft YaHei"/>
              </a:defRPr>
            </a:pPr>
            <a:r>
              <a:t>- phase lock 能把请求对齐成稳定 batch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Microsoft YaHei"/>
              </a:defRPr>
            </a:pPr>
            <a:r>
              <a:t>- shared prefix 让多微调模型可以长期常驻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Microsoft YaHei"/>
              </a:defRPr>
            </a:pPr>
            <a:r>
              <a:t>- MPS 不是默认收益点，实验表明它在当前 runtime 上没有额外增益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548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00">
                <a:solidFill>
                  <a:srgbClr val="000000"/>
                </a:solidFill>
                <a:latin typeface="Microsoft YaHei"/>
              </a:defRPr>
            </a:pPr>
            <a:r>
              <a:t>7/12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Microsoft YaHei"/>
              </a:defRPr>
            </a:pPr>
            <a:r>
              <a:t>GR00T N1.6 实验结果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0972800" cy="914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1">
                <a:solidFill>
                  <a:srgbClr val="000000"/>
                </a:solidFill>
                <a:latin typeface="Microsoft YaHei"/>
              </a:defRPr>
            </a:pPr>
            <a:r>
              <a:t>shared-prefix + phase-lock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09928"/>
            <a:ext cx="5303520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  <a:defRPr sz="1500">
                <a:solidFill>
                  <a:srgbClr val="000000"/>
                </a:solidFill>
                <a:latin typeface="Microsoft YaHei"/>
              </a:defRPr>
            </a:pPr>
            <a:r>
              <a:t>- 4 robots: p95 = 43.88 ms, stable = True</a:t>
            </a:r>
          </a:p>
          <a:p>
            <a:pPr algn="l">
              <a:spcAft>
                <a:spcPts val="600"/>
              </a:spcAft>
              <a:defRPr sz="1500">
                <a:solidFill>
                  <a:srgbClr val="000000"/>
                </a:solidFill>
                <a:latin typeface="Microsoft YaHei"/>
              </a:defRPr>
            </a:pPr>
            <a:r>
              <a:t>- 8 robots: strict reply-over 7 -&gt; phase-lock 0</a:t>
            </a:r>
          </a:p>
          <a:p>
            <a:pPr algn="l">
              <a:spcAft>
                <a:spcPts val="600"/>
              </a:spcAft>
              <a:defRPr sz="1500">
                <a:solidFill>
                  <a:srgbClr val="000000"/>
                </a:solidFill>
                <a:latin typeface="Microsoft YaHei"/>
              </a:defRPr>
            </a:pPr>
            <a:r>
              <a:t>- 8 robots: batch 1.38 -&gt; 2.00</a:t>
            </a:r>
          </a:p>
          <a:p>
            <a:pPr algn="l">
              <a:spcAft>
                <a:spcPts val="600"/>
              </a:spcAft>
              <a:defRPr sz="1500">
                <a:solidFill>
                  <a:srgbClr val="000000"/>
                </a:solidFill>
                <a:latin typeface="Microsoft YaHei"/>
              </a:defRPr>
            </a:pPr>
            <a:r>
              <a:t>- 16 robots: p95 = 58.43 ms, stable = True</a:t>
            </a:r>
          </a:p>
          <a:p>
            <a:pPr algn="l">
              <a:spcAft>
                <a:spcPts val="600"/>
              </a:spcAft>
              <a:defRPr sz="1500">
                <a:solidFill>
                  <a:srgbClr val="000000"/>
                </a:solidFill>
                <a:latin typeface="Microsoft YaHei"/>
              </a:defRPr>
            </a:pPr>
            <a:r>
              <a:t>- 16 robots: strict reply-over 15 -&gt; phase-lock 0</a:t>
            </a:r>
          </a:p>
          <a:p>
            <a:pPr algn="l">
              <a:spcAft>
                <a:spcPts val="600"/>
              </a:spcAft>
              <a:defRPr sz="1500">
                <a:solidFill>
                  <a:srgbClr val="000000"/>
                </a:solidFill>
                <a:latin typeface="Microsoft YaHei"/>
              </a:defRPr>
            </a:pPr>
            <a:r>
              <a:t>- 16 robots: batch 2.20 -&gt; 4.00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72200" y="132588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1">
                <a:solidFill>
                  <a:srgbClr val="000000"/>
                </a:solidFill>
                <a:latin typeface="Microsoft YaHei"/>
              </a:defRPr>
            </a:pPr>
            <a:r>
              <a:t>fair admission + MPS 结论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0" y="1709928"/>
            <a:ext cx="5303520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  <a:defRPr sz="1500">
                <a:solidFill>
                  <a:srgbClr val="000000"/>
                </a:solidFill>
                <a:latin typeface="Microsoft YaHei"/>
              </a:defRPr>
            </a:pPr>
            <a:r>
              <a:t>- accept-rate gap: 0.2921 -&gt; 0.0994</a:t>
            </a:r>
          </a:p>
          <a:p>
            <a:pPr algn="l">
              <a:spcAft>
                <a:spcPts val="600"/>
              </a:spcAft>
              <a:defRPr sz="1500">
                <a:solidFill>
                  <a:srgbClr val="000000"/>
                </a:solidFill>
                <a:latin typeface="Microsoft YaHei"/>
              </a:defRPr>
            </a:pPr>
            <a:r>
              <a:t>- final-count gap: 18 -&gt; 2</a:t>
            </a:r>
          </a:p>
          <a:p>
            <a:pPr algn="l">
              <a:spcAft>
                <a:spcPts val="600"/>
              </a:spcAft>
              <a:defRPr sz="1500">
                <a:solidFill>
                  <a:srgbClr val="000000"/>
                </a:solidFill>
                <a:latin typeface="Microsoft YaHei"/>
              </a:defRPr>
            </a:pPr>
            <a:r>
              <a:t>- 16 robots: batch-only p95 = 58.43 ms</a:t>
            </a:r>
          </a:p>
          <a:p>
            <a:pPr algn="l">
              <a:spcAft>
                <a:spcPts val="600"/>
              </a:spcAft>
              <a:defRPr sz="1500">
                <a:solidFill>
                  <a:srgbClr val="000000"/>
                </a:solidFill>
                <a:latin typeface="Microsoft YaHei"/>
              </a:defRPr>
            </a:pPr>
            <a:r>
              <a:t>- 16 robots: batch+MPS p95 = 58.43 ms</a:t>
            </a:r>
          </a:p>
          <a:p>
            <a:pPr algn="l">
              <a:spcAft>
                <a:spcPts val="600"/>
              </a:spcAft>
              <a:defRPr sz="1500">
                <a:solidFill>
                  <a:srgbClr val="000000"/>
                </a:solidFill>
                <a:latin typeface="Microsoft YaHei"/>
              </a:defRPr>
            </a:pPr>
            <a:r>
              <a:t>- 结论：fair admission 有效；MPS 在当前 runtime 上没有额外收益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548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00">
                <a:solidFill>
                  <a:srgbClr val="000000"/>
                </a:solidFill>
                <a:latin typeface="Microsoft YaHei"/>
              </a:defRPr>
            </a:pPr>
            <a:r>
              <a:t>8/12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Microsoft YaHei"/>
              </a:defRPr>
            </a:pPr>
            <a:r>
              <a:t>为什么已有 GPU 虚拟化 / 资源划分方案不足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0972800" cy="914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1">
                <a:solidFill>
                  <a:srgbClr val="000000"/>
                </a:solidFill>
                <a:latin typeface="Microsoft YaHei"/>
              </a:defRPr>
            </a:pPr>
            <a:r>
              <a:t>方法层面的根本问题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09928"/>
            <a:ext cx="5303520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  <a:defRPr sz="1500">
                <a:solidFill>
                  <a:srgbClr val="000000"/>
                </a:solidFill>
                <a:latin typeface="Microsoft YaHei"/>
              </a:defRPr>
            </a:pPr>
            <a:r>
              <a:t>- GPUlet: offline integer-rate schedule，不建模 model state / prefetch / legal replan window</a:t>
            </a:r>
          </a:p>
          <a:p>
            <a:pPr algn="l">
              <a:spcAft>
                <a:spcPts val="600"/>
              </a:spcAft>
              <a:defRPr sz="1500">
                <a:solidFill>
                  <a:srgbClr val="000000"/>
                </a:solidFill>
                <a:latin typeface="Microsoft YaHei"/>
              </a:defRPr>
            </a:pPr>
            <a:r>
              <a:t>- Clockwork: 只做 compute reservation，冷模型仍在关键路径上</a:t>
            </a:r>
          </a:p>
          <a:p>
            <a:pPr algn="l">
              <a:spcAft>
                <a:spcPts val="600"/>
              </a:spcAft>
              <a:defRPr sz="1500">
                <a:solidFill>
                  <a:srgbClr val="000000"/>
                </a:solidFill>
                <a:latin typeface="Microsoft YaHei"/>
              </a:defRPr>
            </a:pPr>
            <a:r>
              <a:t>- REEF: preemption 不解决模型状态移动</a:t>
            </a:r>
          </a:p>
          <a:p>
            <a:pPr algn="l">
              <a:spcAft>
                <a:spcPts val="600"/>
              </a:spcAft>
              <a:defRPr sz="1500">
                <a:solidFill>
                  <a:srgbClr val="000000"/>
                </a:solidFill>
                <a:latin typeface="Microsoft YaHei"/>
              </a:defRPr>
            </a:pPr>
            <a:r>
              <a:t>- Paella: reactive scheduling 只在模型已常驻时有效</a:t>
            </a:r>
          </a:p>
          <a:p>
            <a:pPr algn="l">
              <a:spcAft>
                <a:spcPts val="600"/>
              </a:spcAft>
              <a:defRPr sz="1500">
                <a:solidFill>
                  <a:srgbClr val="000000"/>
                </a:solidFill>
                <a:latin typeface="Microsoft YaHei"/>
              </a:defRPr>
            </a:pPr>
            <a:r>
              <a:t>- USHER: 空间划分忽略未来请求可预测性和模型状态</a:t>
            </a:r>
          </a:p>
          <a:p>
            <a:pPr algn="l">
              <a:spcAft>
                <a:spcPts val="600"/>
              </a:spcAft>
              <a:defRPr sz="1500">
                <a:solidFill>
                  <a:srgbClr val="000000"/>
                </a:solidFill>
                <a:latin typeface="Microsoft YaHei"/>
              </a:defRPr>
            </a:pPr>
            <a:r>
              <a:t>- DistServe: 对单 GPU 上的短 VLA 前向增加额外阶段队列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72200" y="132588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1">
                <a:solidFill>
                  <a:srgbClr val="000000"/>
                </a:solidFill>
                <a:latin typeface="Microsoft YaHei"/>
              </a:defRPr>
            </a:pPr>
            <a:r>
              <a:t>实验和 artifact 证据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0" y="1709928"/>
            <a:ext cx="5303520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  <a:defRPr sz="1500">
                <a:solidFill>
                  <a:srgbClr val="000000"/>
                </a:solidFill>
                <a:latin typeface="Microsoft YaHei"/>
              </a:defRPr>
            </a:pPr>
            <a:r>
              <a:t>- Pi05: ours 43.21 ms; full resident 104.92 ms; best conventional 364.84 ms</a:t>
            </a:r>
          </a:p>
          <a:p>
            <a:pPr algn="l">
              <a:spcAft>
                <a:spcPts val="600"/>
              </a:spcAft>
              <a:defRPr sz="1500">
                <a:solidFill>
                  <a:srgbClr val="000000"/>
                </a:solidFill>
                <a:latin typeface="Microsoft YaHei"/>
              </a:defRPr>
            </a:pPr>
            <a:r>
              <a:t>- GR00T: ours 58.43 ms at 16 robots; full resident 140.34 ms; best conventional 520.65 ms</a:t>
            </a:r>
          </a:p>
          <a:p>
            <a:pPr algn="l">
              <a:spcAft>
                <a:spcPts val="600"/>
              </a:spcAft>
              <a:defRPr sz="1500">
                <a:solidFill>
                  <a:srgbClr val="000000"/>
                </a:solidFill>
                <a:latin typeface="Microsoft YaHei"/>
              </a:defRPr>
            </a:pPr>
            <a:r>
              <a:t>- Pi05 GPUlet temporal feasible = False</a:t>
            </a:r>
          </a:p>
          <a:p>
            <a:pPr algn="l">
              <a:spcAft>
                <a:spcPts val="600"/>
              </a:spcAft>
              <a:defRPr sz="1500">
                <a:solidFill>
                  <a:srgbClr val="000000"/>
                </a:solidFill>
                <a:latin typeface="Microsoft YaHei"/>
              </a:defRPr>
            </a:pPr>
            <a:r>
              <a:t>- GR00T GPUlet temporal feasible = False</a:t>
            </a:r>
          </a:p>
          <a:p>
            <a:pPr algn="l">
              <a:spcAft>
                <a:spcPts val="600"/>
              </a:spcAft>
              <a:defRPr sz="1500">
                <a:solidFill>
                  <a:srgbClr val="000000"/>
                </a:solidFill>
                <a:latin typeface="Microsoft YaHei"/>
              </a:defRPr>
            </a:pPr>
            <a:r>
              <a:t>- glet VLA-adapted cases timed out after 30s: gr00t_two_model=True, gr00t_four_model=True, pi05_four_model=True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548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00">
                <a:solidFill>
                  <a:srgbClr val="000000"/>
                </a:solidFill>
                <a:latin typeface="Microsoft YaHei"/>
              </a:defRPr>
            </a:pPr>
            <a:r>
              <a:t>9/12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Microsoft YaHei"/>
              </a:defRPr>
            </a:pPr>
            <a:r>
              <a:t>为什么我们的方法更好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0972800" cy="914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5120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2000">
                <a:solidFill>
                  <a:srgbClr val="000000"/>
                </a:solidFill>
                <a:latin typeface="Microsoft YaHei"/>
              </a:defRPr>
            </a:pPr>
            <a:r>
              <a:t>- 我们不是只优化请求到来后的 compute scheduling，而是联合优化 future compute slots、resident model state、H2D/activation bandwidth、legal replan window。</a:t>
            </a:r>
          </a:p>
          <a:p>
            <a:pPr algn="l">
              <a:spcAft>
                <a:spcPts val="800"/>
              </a:spcAft>
              <a:defRPr sz="2000">
                <a:solidFill>
                  <a:srgbClr val="000000"/>
                </a:solidFill>
                <a:latin typeface="Microsoft YaHei"/>
              </a:defRPr>
            </a:pPr>
            <a:r>
              <a:t>- Pi05 上，主要收益来自 25/50 control semantics + predictive residency/prefetch，admission 从 22.33 提升到 32.67，而 p95 仍约 43.21ms。</a:t>
            </a:r>
          </a:p>
          <a:p>
            <a:pPr algn="l">
              <a:spcAft>
                <a:spcPts val="800"/>
              </a:spcAft>
              <a:defRPr sz="2000">
                <a:solidFill>
                  <a:srgbClr val="000000"/>
                </a:solidFill>
                <a:latin typeface="Microsoft YaHei"/>
              </a:defRPr>
            </a:pPr>
            <a:r>
              <a:t>- GR00T 上，主要收益来自 shared-prefix residency + phase-lock batching + fair admission：16 robots 时稳定在 58.43ms，reply-over 从 15 降到 0。</a:t>
            </a:r>
          </a:p>
          <a:p>
            <a:pPr algn="l">
              <a:spcAft>
                <a:spcPts val="800"/>
              </a:spcAft>
              <a:defRPr sz="2000">
                <a:solidFill>
                  <a:srgbClr val="000000"/>
                </a:solidFill>
                <a:latin typeface="Microsoft YaHei"/>
              </a:defRPr>
            </a:pPr>
            <a:r>
              <a:t>- 这说明同一个 VLA-vGPU 抽象可以覆盖两类不同的 VLA family，只是资源重心不同。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548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00">
                <a:solidFill>
                  <a:srgbClr val="000000"/>
                </a:solidFill>
                <a:latin typeface="Microsoft YaHei"/>
              </a:defRPr>
            </a:pPr>
            <a:r>
              <a:t>10/12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Microsoft YaHei"/>
              </a:defRPr>
            </a:pPr>
            <a:r>
              <a:t>为什么这个方法可以 goes general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0972800" cy="914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1">
                <a:solidFill>
                  <a:srgbClr val="000000"/>
                </a:solidFill>
                <a:latin typeface="Microsoft YaHei"/>
              </a:defRPr>
            </a:pPr>
            <a:r>
              <a:t>它不依赖具体模型实现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09928"/>
            <a:ext cx="5303520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Microsoft YaHei"/>
              </a:defRPr>
            </a:pPr>
            <a:r>
              <a:t>- 不依赖具体 transformer backbone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Microsoft YaHei"/>
              </a:defRPr>
            </a:pPr>
            <a:r>
              <a:t>- 不依赖具体 tokenizer 或 action head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Microsoft YaHei"/>
              </a:defRPr>
            </a:pPr>
            <a:r>
              <a:t>- 不依赖特定 checkpoint 格式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Microsoft YaHei"/>
              </a:defRPr>
            </a:pPr>
            <a:r>
              <a:t>- 不依赖特定厂商 runtime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72200" y="132588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1">
                <a:solidFill>
                  <a:srgbClr val="000000"/>
                </a:solidFill>
                <a:latin typeface="Microsoft YaHei"/>
              </a:defRPr>
            </a:pPr>
            <a:r>
              <a:t>它只要求可测的工作负载属性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0" y="1709928"/>
            <a:ext cx="5303520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Microsoft YaHei"/>
              </a:defRPr>
            </a:pPr>
            <a:r>
              <a:t>- chunk size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Microsoft YaHei"/>
              </a:defRPr>
            </a:pPr>
            <a:r>
              <a:t>- horizon process / legal replan window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Microsoft YaHei"/>
              </a:defRPr>
            </a:pPr>
            <a:r>
              <a:t>- single-request latency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Microsoft YaHei"/>
              </a:defRPr>
            </a:pPr>
            <a:r>
              <a:t>- same-model batch curve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Microsoft YaHei"/>
              </a:defRPr>
            </a:pPr>
            <a:r>
              <a:t>- resident state footprint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Microsoft YaHei"/>
              </a:defRPr>
            </a:pPr>
            <a:r>
              <a:t>- future request predictability</a:t>
            </a:r>
          </a:p>
          <a:p>
            <a:pPr algn="l">
              <a:spcAft>
                <a:spcPts val="600"/>
              </a:spcAft>
              <a:defRPr sz="1600">
                <a:solidFill>
                  <a:srgbClr val="000000"/>
                </a:solidFill>
                <a:latin typeface="Microsoft YaHei"/>
              </a:defRPr>
            </a:pPr>
            <a:r>
              <a:t>- 然后选择 ResidentPrefetch / SharedPrefixPhaseBatch / Hybrid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548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00">
                <a:solidFill>
                  <a:srgbClr val="000000"/>
                </a:solidFill>
                <a:latin typeface="Microsoft YaHei"/>
              </a:defRPr>
            </a:pPr>
            <a:r>
              <a:t>11/12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Microsoft YaHei"/>
              </a:defRPr>
            </a:pPr>
            <a:r>
              <a:t>结论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0972800" cy="914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89920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2100">
                <a:solidFill>
                  <a:srgbClr val="000000"/>
                </a:solidFill>
                <a:latin typeface="Microsoft YaHei"/>
              </a:defRPr>
            </a:pPr>
            <a:r>
              <a:t>- VLA 需要的不是传统请求式 GPU 虚拟化，而是面向 Robot Lease 的时空联合 GPU 虚拟化。</a:t>
            </a:r>
          </a:p>
          <a:p>
            <a:pPr algn="l">
              <a:spcAft>
                <a:spcPts val="800"/>
              </a:spcAft>
              <a:defRPr sz="2100">
                <a:solidFill>
                  <a:srgbClr val="000000"/>
                </a:solidFill>
                <a:latin typeface="Microsoft YaHei"/>
              </a:defRPr>
            </a:pPr>
            <a:r>
              <a:t>- Pi05 证明了：legal replan window + predictive residency/prefetch 可以稳定扩容，同时不增加端到端推理时延。</a:t>
            </a:r>
          </a:p>
          <a:p>
            <a:pPr algn="l">
              <a:spcAft>
                <a:spcPts val="800"/>
              </a:spcAft>
              <a:defRPr sz="2100">
                <a:solidFill>
                  <a:srgbClr val="000000"/>
                </a:solidFill>
                <a:latin typeface="Microsoft YaHei"/>
              </a:defRPr>
            </a:pPr>
            <a:r>
              <a:t>- GR00T N1.6 证明了：shared-prefix residency + phase-lock batching + fair admission 是有效的。</a:t>
            </a:r>
          </a:p>
          <a:p>
            <a:pPr algn="l">
              <a:spcAft>
                <a:spcPts val="800"/>
              </a:spcAft>
              <a:defRPr sz="2100">
                <a:solidFill>
                  <a:srgbClr val="000000"/>
                </a:solidFill>
                <a:latin typeface="Microsoft YaHei"/>
              </a:defRPr>
            </a:pPr>
            <a:r>
              <a:t>- 传统 GPU 虚拟化 / 资源划分方案不足的根本原因，是它们没有把模型状态、带宽和控制窗口当成一等资源。</a:t>
            </a:r>
          </a:p>
          <a:p>
            <a:pPr algn="l">
              <a:spcAft>
                <a:spcPts val="800"/>
              </a:spcAft>
              <a:defRPr sz="2100">
                <a:solidFill>
                  <a:srgbClr val="000000"/>
                </a:solidFill>
                <a:latin typeface="Microsoft YaHei"/>
              </a:defRPr>
            </a:pPr>
            <a:r>
              <a:t>- 因此，VLA-vGPU 是一个既能解释 Pi05，又能解释 GR00T，并且可以 general 到 chunked-action VLA family 的系统抽象。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548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00">
                <a:solidFill>
                  <a:srgbClr val="000000"/>
                </a:solidFill>
                <a:latin typeface="Microsoft YaHei"/>
              </a:defRPr>
            </a:pPr>
            <a:r>
              <a:t>12/12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